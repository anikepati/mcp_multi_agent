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6335E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023360"/>
            <a:ext cx="5029200" cy="5029200"/>
          </a:xfrm>
          <a:prstGeom prst="ellipse">
            <a:avLst/>
          </a:prstGeom>
          <a:solidFill>
            <a:srgbClr val="1025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186" y="940186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868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DB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AI ARCHITECTURE  ·  EXECUTIVE BRIEFING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iDocs O2A — Senior Lien Verification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04672" y="33467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Architecture  ·  Scheduled Batch Automation  ·  Self-Optimizing Extraction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43560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983480"/>
            <a:ext cx="566928" cy="566928"/>
          </a:xfrm>
          <a:prstGeom prst="ellipse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1" y="513655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1868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51760" y="4983480"/>
            <a:ext cx="566928" cy="566928"/>
          </a:xfrm>
          <a:prstGeom prst="ellipse">
            <a:avLst/>
          </a:prstGeom>
          <a:solidFill>
            <a:srgbClr val="2C7A3F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31" y="5136551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4028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0176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434840" y="4983480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911" y="5136551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2336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78484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17920" y="4983480"/>
            <a:ext cx="566928" cy="566928"/>
          </a:xfrm>
          <a:prstGeom prst="ellipse">
            <a:avLst/>
          </a:prstGeom>
          <a:solidFill>
            <a:srgbClr val="B91C1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991" y="5136551"/>
            <a:ext cx="260787" cy="2607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0644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56792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001000" y="4983480"/>
            <a:ext cx="566928" cy="566928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071" y="5136551"/>
            <a:ext cx="260787" cy="26078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8952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9784080" y="4983480"/>
            <a:ext cx="566928" cy="566928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7151" y="5136551"/>
            <a:ext cx="260787" cy="26078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37260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8686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safety net across every stage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capabilities, one config-driven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multi-agent system that decides, runs itself on schedule, and tunes its own extraction prompts.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60273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27632"/>
            <a:ext cx="3602736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993392"/>
            <a:ext cx="713232" cy="713232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185965"/>
            <a:ext cx="328087" cy="3280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34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SLV Pipeline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specialized agents automate senior-lien decisioning end-to-end — intake, extraction, validation, verdict and System-of-Record update — with a human-in-the-loop safety net for exceptions.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627632"/>
            <a:ext cx="360273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4256" y="1627632"/>
            <a:ext cx="3602736" cy="109728"/>
          </a:xfrm>
          <a:prstGeom prst="rect">
            <a:avLst/>
          </a:prstGeom>
          <a:solidFill>
            <a:srgbClr val="2E5A8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6864" y="1993392"/>
            <a:ext cx="713232" cy="713232"/>
          </a:xfrm>
          <a:prstGeom prst="ellipse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437" y="2185965"/>
            <a:ext cx="328087" cy="3280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8576" y="2834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Batch Processing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08576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cron scheduler pulls pending loans from the SOR database and runs the pipeline unattended. Failures are caught and retried automatically with exponential backoff — no silent drops.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9872" y="1627632"/>
            <a:ext cx="360273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19872" y="1627632"/>
            <a:ext cx="3602736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1993392"/>
            <a:ext cx="713232" cy="713232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53" y="2185965"/>
            <a:ext cx="328087" cy="3280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94192" y="2834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Self-Optimizing Extraction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94192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 + RLM generate extraction prompts automatically from Skan AI ground truth and ECM OCR output. Zero manual prompt engineering; new document types onboard in hours.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19"/>
          <p:cNvSpPr/>
          <p:nvPr/>
        </p:nvSpPr>
        <p:spPr>
          <a:xfrm>
            <a:off x="548640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0"/>
          <p:cNvSpPr/>
          <p:nvPr/>
        </p:nvSpPr>
        <p:spPr>
          <a:xfrm>
            <a:off x="749808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749808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prompt effort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447288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3"/>
          <p:cNvSpPr/>
          <p:nvPr/>
        </p:nvSpPr>
        <p:spPr>
          <a:xfrm>
            <a:off x="3447288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4"/>
          <p:cNvSpPr/>
          <p:nvPr/>
        </p:nvSpPr>
        <p:spPr>
          <a:xfrm>
            <a:off x="3648456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0.92</a:t>
            </a:r>
            <a:endParaRPr lang="en-US" sz="3000" dirty="0"/>
          </a:p>
        </p:txBody>
      </p:sp>
      <p:sp>
        <p:nvSpPr>
          <p:cNvPr id="30" name="Text 25"/>
          <p:cNvSpPr/>
          <p:nvPr/>
        </p:nvSpPr>
        <p:spPr>
          <a:xfrm>
            <a:off x="3648456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field F1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345936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27"/>
          <p:cNvSpPr/>
          <p:nvPr/>
        </p:nvSpPr>
        <p:spPr>
          <a:xfrm>
            <a:off x="6345936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28"/>
          <p:cNvSpPr/>
          <p:nvPr/>
        </p:nvSpPr>
        <p:spPr>
          <a:xfrm>
            <a:off x="6547104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</a:t>
            </a:r>
            <a:endParaRPr lang="en-US" sz="3000" dirty="0"/>
          </a:p>
        </p:txBody>
      </p:sp>
      <p:sp>
        <p:nvSpPr>
          <p:cNvPr id="34" name="Text 29"/>
          <p:cNvSpPr/>
          <p:nvPr/>
        </p:nvSpPr>
        <p:spPr>
          <a:xfrm>
            <a:off x="6547104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doc type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9244584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1"/>
          <p:cNvSpPr/>
          <p:nvPr/>
        </p:nvSpPr>
        <p:spPr>
          <a:xfrm>
            <a:off x="9244584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2"/>
          <p:cNvSpPr/>
          <p:nvPr/>
        </p:nvSpPr>
        <p:spPr>
          <a:xfrm>
            <a:off x="9445752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000" dirty="0"/>
          </a:p>
        </p:txBody>
      </p:sp>
      <p:sp>
        <p:nvSpPr>
          <p:cNvPr id="38" name="Text 33"/>
          <p:cNvSpPr/>
          <p:nvPr/>
        </p:nvSpPr>
        <p:spPr>
          <a:xfrm>
            <a:off x="9445752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audited to SOR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Multi-Agent Flow — End-to-End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ID in → verified decision and audit record out, orchestrated across six configurable agent stages.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1604772" cy="475488"/>
          </a:xfrm>
          <a:prstGeom prst="rect">
            <a:avLst/>
          </a:prstGeom>
          <a:solidFill>
            <a:srgbClr val="2E5A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910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Loan Intake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0936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Data Collection agents route the loan and fetch account &amp; document details from ECAR / DB.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44268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18588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18588" y="1481328"/>
            <a:ext cx="1604772" cy="475488"/>
          </a:xfrm>
          <a:prstGeom prst="rect">
            <a:avLst/>
          </a:prstGeom>
          <a:solidFill>
            <a:srgbClr val="2C7A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16" y="15910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9212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Doc Extraction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46604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AI pipeline runs bulk document extraction by BatchID; gate checks required docs &amp; mandatory fields.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059936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334256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34256" y="1481328"/>
            <a:ext cx="1604772" cy="475488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5910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Async Retrieval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62272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polls ECM for completion, retrieves extraction results via API, stores them in O2A DB.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975604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6249924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49924" y="1481328"/>
            <a:ext cx="1604772" cy="475488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652" y="159105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70548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Validation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377940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 compares ECAR + extracted data against SLV business rules (criteria comparison).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891272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165592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165592" y="1481328"/>
            <a:ext cx="1604772" cy="475488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59105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586216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Verdict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8293608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agent synthesizes &amp; summarizes the result and renders the JSON outcome to the Operator UI.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9806940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10081260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081260" y="1481328"/>
            <a:ext cx="1604772" cy="475488"/>
          </a:xfrm>
          <a:prstGeom prst="rect">
            <a:avLst/>
          </a:prstGeom>
          <a:solidFill>
            <a:srgbClr val="C2410C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988" y="1591056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501884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SOR Update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10209276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 agent writes the verified decision to the System of Record with a full audit trail at completion.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029200" y="3986784"/>
            <a:ext cx="2103120" cy="71323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1" name="Shape 33"/>
          <p:cNvSpPr/>
          <p:nvPr/>
        </p:nvSpPr>
        <p:spPr>
          <a:xfrm>
            <a:off x="5029200" y="3886200"/>
            <a:ext cx="2103120" cy="201168"/>
          </a:xfrm>
          <a:prstGeom prst="ellipse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029200" y="4599432"/>
            <a:ext cx="2103120" cy="2011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168" y="4087368"/>
            <a:ext cx="329184" cy="32918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572000" y="4453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O2A DB · PostgreSQL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3220974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6" name="Shape 37"/>
          <p:cNvSpPr/>
          <p:nvPr/>
        </p:nvSpPr>
        <p:spPr>
          <a:xfrm>
            <a:off x="5136642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7" name="Shape 38"/>
          <p:cNvSpPr/>
          <p:nvPr/>
        </p:nvSpPr>
        <p:spPr>
          <a:xfrm>
            <a:off x="7052310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8" name="Shape 39"/>
          <p:cNvSpPr/>
          <p:nvPr/>
        </p:nvSpPr>
        <p:spPr>
          <a:xfrm>
            <a:off x="8967978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9" name="Shape 40"/>
          <p:cNvSpPr/>
          <p:nvPr/>
        </p:nvSpPr>
        <p:spPr>
          <a:xfrm>
            <a:off x="2011680" y="3611880"/>
            <a:ext cx="3017520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0" name="Shape 41"/>
          <p:cNvSpPr/>
          <p:nvPr/>
        </p:nvSpPr>
        <p:spPr>
          <a:xfrm flipH="1">
            <a:off x="7132320" y="3611880"/>
            <a:ext cx="2834640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1" name="Text 42"/>
          <p:cNvSpPr/>
          <p:nvPr/>
        </p:nvSpPr>
        <p:spPr>
          <a:xfrm>
            <a:off x="3931920" y="48371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· every stage reads/writes the O2A store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502920" y="5285232"/>
            <a:ext cx="11183112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502920" y="5285232"/>
            <a:ext cx="91440" cy="10789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4" name="Shape 45"/>
          <p:cNvSpPr/>
          <p:nvPr/>
        </p:nvSpPr>
        <p:spPr>
          <a:xfrm>
            <a:off x="795528" y="5532120"/>
            <a:ext cx="585216" cy="585216"/>
          </a:xfrm>
          <a:prstGeom prst="ellipse">
            <a:avLst/>
          </a:prstGeom>
          <a:solidFill>
            <a:srgbClr val="47556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536" y="5690128"/>
            <a:ext cx="269199" cy="269199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600200" y="543153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— exception &amp; control lane</a:t>
            </a:r>
            <a:endParaRPr lang="en-US" sz="1400" dirty="0"/>
          </a:p>
        </p:txBody>
      </p:sp>
      <p:sp>
        <p:nvSpPr>
          <p:cNvPr id="57" name="Text 47"/>
          <p:cNvSpPr/>
          <p:nvPr/>
        </p:nvSpPr>
        <p:spPr>
          <a:xfrm>
            <a:off x="1600200" y="576072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 or mandatory-field failures escalate for review. Operators also review staged SOR data before sync, then Approve · Reject · Escalate — keeping a person accountable for every non-routine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Scheduled, Self-Healing Pipeline —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runs on a cron schedule, sourced from the SOR DB, with automatic retry and dead-letter escalation.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48840" cy="123444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465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709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 Scheduler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2130552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each run on schedule (nightly / hourly).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63240" y="1600200"/>
            <a:ext cx="2148840" cy="1234440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74650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1709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 DB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209544" y="2130552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pending Loan IDs (NEW / RE-REVIEW).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577840" y="1600200"/>
            <a:ext cx="2331720" cy="1234440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74650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08192" y="1709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Orchestrator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724144" y="2130552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loans to the SLV pipeline — config-driven, parallel.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275320" y="1600200"/>
            <a:ext cx="2331720" cy="123444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174650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05672" y="1709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Agent Pipeline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421624" y="2130552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6-stage SLV flow per loan.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697480" y="2217420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5212080" y="2217420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909560" y="2217420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10584180" y="1508760"/>
            <a:ext cx="1417320" cy="1417320"/>
          </a:xfrm>
          <a:prstGeom prst="diamond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8100000">
              <a:srgbClr val="0B1A33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0584180" y="15087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Outcome?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 flipH="1">
            <a:off x="10565892" y="2217420"/>
            <a:ext cx="41148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052560" y="4160520"/>
            <a:ext cx="2697480" cy="13258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4" y="4306824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82912" y="4270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SOR + Write Audit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198864" y="4690872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decision committed to the System of Record with full audit trail.  → END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846320" y="4160520"/>
            <a:ext cx="2743200" cy="13258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4306824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76672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Handler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992624" y="469087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· max N attempts · per-failure isolation. Re-dispatches the failed loan.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4160520"/>
            <a:ext cx="2743200" cy="132588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306824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78992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Dead-Letter → HITL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94944" y="469087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exhausted → quarantine the loan and escalate to Human-in-the-Loop.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11292840" y="2926080"/>
            <a:ext cx="0" cy="941832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 flipH="1">
            <a:off x="10405872" y="3867912"/>
            <a:ext cx="886968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405872" y="3867912"/>
            <a:ext cx="0" cy="27432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2" name="Text 33"/>
          <p:cNvSpPr/>
          <p:nvPr/>
        </p:nvSpPr>
        <p:spPr>
          <a:xfrm>
            <a:off x="10378440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11292840" y="2926080"/>
            <a:ext cx="0" cy="685800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217920" y="3611880"/>
            <a:ext cx="5074920" cy="0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217920" y="3611880"/>
            <a:ext cx="0" cy="530352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6" name="Text 37"/>
          <p:cNvSpPr/>
          <p:nvPr/>
        </p:nvSpPr>
        <p:spPr>
          <a:xfrm>
            <a:off x="6355080" y="3675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6217920" y="4160520"/>
            <a:ext cx="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 flipV="1">
            <a:off x="6739128" y="3246120"/>
            <a:ext cx="0" cy="914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9" name="Shape 40"/>
          <p:cNvSpPr/>
          <p:nvPr/>
        </p:nvSpPr>
        <p:spPr>
          <a:xfrm>
            <a:off x="6739128" y="3246120"/>
            <a:ext cx="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 flipV="1">
            <a:off x="6739128" y="2852928"/>
            <a:ext cx="0" cy="39319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51" name="Text 42"/>
          <p:cNvSpPr/>
          <p:nvPr/>
        </p:nvSpPr>
        <p:spPr>
          <a:xfrm>
            <a:off x="6858000" y="3383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re-dispatch (≤ N)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 flipH="1">
            <a:off x="3337560" y="4823460"/>
            <a:ext cx="1508760" cy="0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3" name="Text 44"/>
          <p:cNvSpPr/>
          <p:nvPr/>
        </p:nvSpPr>
        <p:spPr>
          <a:xfrm>
            <a:off x="3310128" y="45491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Sequence — Cron Run with Retry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scheduled run flows across the actors, including the self-healing retry and dead-letter paths.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350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475569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41732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56946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2E5A8C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7099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2666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 DB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8328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53542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0E7C7B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70992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9262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34924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650138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6D28D9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7099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5858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Agent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31520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46734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170992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2454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Handler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928116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1043330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170992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89050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/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1124712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1417320" y="2606040"/>
            <a:ext cx="39319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0" name="Text 22"/>
          <p:cNvSpPr/>
          <p:nvPr/>
        </p:nvSpPr>
        <p:spPr>
          <a:xfrm>
            <a:off x="1463040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trigger scheduled run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 flipH="1">
            <a:off x="3383280" y="3017520"/>
            <a:ext cx="19659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24"/>
          <p:cNvSpPr/>
          <p:nvPr/>
        </p:nvSpPr>
        <p:spPr>
          <a:xfrm>
            <a:off x="342900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query pending Loan IDs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383280" y="3401568"/>
            <a:ext cx="1965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4" name="Text 26"/>
          <p:cNvSpPr/>
          <p:nvPr/>
        </p:nvSpPr>
        <p:spPr>
          <a:xfrm>
            <a:off x="3429000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return loan batch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349240" y="3794760"/>
            <a:ext cx="19659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28"/>
          <p:cNvSpPr/>
          <p:nvPr/>
        </p:nvSpPr>
        <p:spPr>
          <a:xfrm>
            <a:off x="5394960" y="3502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execute SLV(loanId)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7315200" y="4160520"/>
            <a:ext cx="50292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818120" y="4160520"/>
            <a:ext cx="0" cy="256032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 flipH="1">
            <a:off x="7315200" y="4416552"/>
            <a:ext cx="50292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40" name="Text 32"/>
          <p:cNvSpPr/>
          <p:nvPr/>
        </p:nvSpPr>
        <p:spPr>
          <a:xfrm>
            <a:off x="7882128" y="4142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run 6-stage flow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 flipH="1">
            <a:off x="5349240" y="4709160"/>
            <a:ext cx="1965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2" name="Text 34"/>
          <p:cNvSpPr/>
          <p:nvPr/>
        </p:nvSpPr>
        <p:spPr>
          <a:xfrm>
            <a:off x="5394960" y="4416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result  /  failure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349240" y="5120640"/>
            <a:ext cx="39319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4" name="Text 36"/>
          <p:cNvSpPr/>
          <p:nvPr/>
        </p:nvSpPr>
        <p:spPr>
          <a:xfrm>
            <a:off x="5394960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on failure: enqueue retry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 flipH="1">
            <a:off x="5349240" y="5532120"/>
            <a:ext cx="39319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46" name="Text 38"/>
          <p:cNvSpPr/>
          <p:nvPr/>
        </p:nvSpPr>
        <p:spPr>
          <a:xfrm>
            <a:off x="5394960" y="5239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re-dispatch (backoff · ≤ N)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349240" y="5943600"/>
            <a:ext cx="58978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8" name="Text 40"/>
          <p:cNvSpPr/>
          <p:nvPr/>
        </p:nvSpPr>
        <p:spPr>
          <a:xfrm>
            <a:off x="5394960" y="565099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on success: write verdict + audit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7863840" y="6053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after max retries → dead-letter &amp; HITL escalation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PROMPTING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Manual Prompt Engineering —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comes from Skan AI; document content from ECM OCR; GEPA + RLM produce the extraction prompts automatically.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1024128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007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6642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Skan AI Video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20848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target process; derive sample Document IDs + key fields.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2697480" cy="1024128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88950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8529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Ground-Truth Set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94944" y="32735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fields per document = the optimization target.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2697480" cy="1371600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7822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0416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ECM OCR + ECM APIs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94944" y="446227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 + getExtractionResults turn each doc into Markdown content (cached once per doc).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897380" y="2578608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3977640" y="1554480"/>
            <a:ext cx="4160520" cy="3749040"/>
          </a:xfrm>
          <a:prstGeom prst="rect">
            <a:avLst/>
          </a:prstGeom>
          <a:solidFill>
            <a:srgbClr val="FFF7E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692140" y="1810512"/>
            <a:ext cx="731520" cy="73152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50" y="2008022"/>
            <a:ext cx="336499" cy="3364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77640" y="26151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GEPA Optimizer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3977640" y="29809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Extraction Prompt Architect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70248" y="344728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18"/>
          <p:cNvSpPr/>
          <p:nvPr/>
        </p:nvSpPr>
        <p:spPr>
          <a:xfrm>
            <a:off x="4526280" y="3346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outer loop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mutation strategy each iteration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70248" y="3886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0"/>
          <p:cNvSpPr/>
          <p:nvPr/>
        </p:nvSpPr>
        <p:spPr>
          <a:xfrm>
            <a:off x="4526280" y="3785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 inner loop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→ Propose → Parallel Eval → Pareto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270248" y="432511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2"/>
          <p:cNvSpPr/>
          <p:nvPr/>
        </p:nvSpPr>
        <p:spPr>
          <a:xfrm>
            <a:off x="4526280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strategy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token-aware: direct call or chunked loop for large docs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270248" y="4764024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4"/>
          <p:cNvSpPr/>
          <p:nvPr/>
        </p:nvSpPr>
        <p:spPr>
          <a:xfrm>
            <a:off x="4526280" y="4663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3-signal scoring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· LLM judge · custom validators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73552" y="2066544"/>
            <a:ext cx="685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3273552" y="3255264"/>
            <a:ext cx="685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3273552" y="4617720"/>
            <a:ext cx="685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8549640" y="1737360"/>
            <a:ext cx="3108960" cy="14173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1883664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079992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Entity Prompts + Schema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695944" y="2267712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Pareto-best prompt promoted automatically — ready for production extraction.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549640" y="3657600"/>
            <a:ext cx="3108960" cy="132588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3803904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79992" y="3767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Extraction Pipeline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695944" y="4187952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optimized prompts at runtime — no code change.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8165592" y="2441448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10104120" y="315468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548640" y="5650992"/>
            <a:ext cx="11091672" cy="713232"/>
          </a:xfrm>
          <a:prstGeom prst="rect">
            <a:avLst/>
          </a:prstGeom>
          <a:solidFill>
            <a:srgbClr val="0B1A33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852160"/>
            <a:ext cx="310896" cy="31089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25880" y="565099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spend no time writing or tuning prompts — new document types are onboarded in hours, not weeks.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OPTIMIZER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GEPA + RLM Recursive Optimization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self-correcting loop that mutates the extraction schema, evaluates candidates in parallel, and promotes the Pareto-best.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B1A3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81328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Selector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picks the mutation strategy each Ralph iteration:  reflection · schema_decomposition · template_restructure · demo_bootstrap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15184" cy="1325880"/>
          </a:xfrm>
          <a:prstGeom prst="rect">
            <a:avLst/>
          </a:prstGeom>
          <a:solidFill>
            <a:srgbClr val="1E5E3A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Reflect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root-cause hypothesis on field-level failures.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3131820"/>
            <a:ext cx="237744" cy="0"/>
          </a:xfrm>
          <a:prstGeom prst="line">
            <a:avLst/>
          </a:prstGeom>
          <a:noFill/>
          <a:ln w="28575">
            <a:solidFill>
              <a:srgbClr val="2C7A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38144" y="2468880"/>
            <a:ext cx="2615184" cy="1325880"/>
          </a:xfrm>
          <a:prstGeom prst="rect">
            <a:avLst/>
          </a:prstGeom>
          <a:solidFill>
            <a:srgbClr val="247044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84448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Propose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 candidate schema mutations via the selected strategy.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3131820"/>
            <a:ext cx="237744" cy="0"/>
          </a:xfrm>
          <a:prstGeom prst="line">
            <a:avLst/>
          </a:prstGeom>
          <a:noFill/>
          <a:ln w="28575">
            <a:solidFill>
              <a:srgbClr val="2C7A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27648" y="2468880"/>
            <a:ext cx="2615184" cy="1325880"/>
          </a:xfrm>
          <a:prstGeom prst="rect">
            <a:avLst/>
          </a:prstGeom>
          <a:solidFill>
            <a:srgbClr val="2C7A3F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3952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Parallel Eval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candidates at once: F1 + LLM judge + validators.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3131820"/>
            <a:ext cx="237744" cy="0"/>
          </a:xfrm>
          <a:prstGeom prst="line">
            <a:avLst/>
          </a:prstGeom>
          <a:noFill/>
          <a:ln w="28575">
            <a:solidFill>
              <a:srgbClr val="2C7A3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17152" y="2468880"/>
            <a:ext cx="2615184" cy="1325880"/>
          </a:xfrm>
          <a:prstGeom prst="rect">
            <a:avLst/>
          </a:prstGeom>
          <a:solidFill>
            <a:srgbClr val="35924C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63456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Pareto Archive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63456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dominance (F1 · Semantic · Validity) → promote best.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24744" y="3794760"/>
            <a:ext cx="0" cy="411480"/>
          </a:xfrm>
          <a:prstGeom prst="line">
            <a:avLst/>
          </a:prstGeom>
          <a:noFill/>
          <a:ln w="25400">
            <a:solidFill>
              <a:srgbClr val="2C7A3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856232" y="4206240"/>
            <a:ext cx="8668512" cy="0"/>
          </a:xfrm>
          <a:prstGeom prst="line">
            <a:avLst/>
          </a:prstGeom>
          <a:noFill/>
          <a:ln w="25400">
            <a:solidFill>
              <a:srgbClr val="2C7A3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1856232" y="3813048"/>
            <a:ext cx="0" cy="393192"/>
          </a:xfrm>
          <a:prstGeom prst="line">
            <a:avLst/>
          </a:prstGeom>
          <a:noFill/>
          <a:ln w="25400">
            <a:solidFill>
              <a:srgbClr val="2C7A3F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163824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re-iterate  ·  max 5 iterations  ·  patience = 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58064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690872"/>
            <a:ext cx="457200" cy="45720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4814316"/>
            <a:ext cx="210312" cy="21031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25880" y="4672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RLM Strategy — token-aware extraction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13232" y="5239512"/>
            <a:ext cx="1417320" cy="896112"/>
          </a:xfrm>
          <a:prstGeom prst="diamond">
            <a:avLst/>
          </a:prstGeom>
          <a:solidFill>
            <a:srgbClr val="6D28D9"/>
          </a:solidFill>
          <a:ln/>
        </p:spPr>
      </p:sp>
      <p:sp>
        <p:nvSpPr>
          <p:cNvPr id="31" name="Text 28"/>
          <p:cNvSpPr/>
          <p:nvPr/>
        </p:nvSpPr>
        <p:spPr>
          <a:xfrm>
            <a:off x="713232" y="5239512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&gt; 5,000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tokens?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423160" y="5093208"/>
            <a:ext cx="3657600" cy="56692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2569464" y="5148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 →  Direct LLM call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2569464" y="54041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 in a single context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423160" y="5751576"/>
            <a:ext cx="3657600" cy="566928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2569464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 →  Chunked loop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2569464" y="6062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→ search → analyze → finalize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130552" y="5687568"/>
            <a:ext cx="10972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40280" y="5376672"/>
            <a:ext cx="0" cy="65836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240280" y="5376672"/>
            <a:ext cx="164592" cy="0"/>
          </a:xfrm>
          <a:prstGeom prst="line">
            <a:avLst/>
          </a:prstGeom>
          <a:noFill/>
          <a:ln w="2222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2240280" y="6035040"/>
            <a:ext cx="164592" cy="0"/>
          </a:xfrm>
          <a:prstGeom prst="line">
            <a:avLst/>
          </a:prstGeom>
          <a:noFill/>
          <a:ln w="2222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6537960" y="452628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DELIVERED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537960" y="4873752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B1A33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537960" y="4873752"/>
            <a:ext cx="159105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5" name="Text 42"/>
          <p:cNvSpPr/>
          <p:nvPr/>
        </p:nvSpPr>
        <p:spPr>
          <a:xfrm>
            <a:off x="6537960" y="5074920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0.92</a:t>
            </a:r>
            <a:endParaRPr lang="en-US" sz="2600" dirty="0"/>
          </a:p>
        </p:txBody>
      </p:sp>
      <p:sp>
        <p:nvSpPr>
          <p:cNvPr id="46" name="Text 43"/>
          <p:cNvSpPr/>
          <p:nvPr/>
        </p:nvSpPr>
        <p:spPr>
          <a:xfrm>
            <a:off x="6583680" y="57515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field F1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293608" y="4873752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B1A33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293608" y="4873752"/>
            <a:ext cx="1591056" cy="822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9" name="Text 46"/>
          <p:cNvSpPr/>
          <p:nvPr/>
        </p:nvSpPr>
        <p:spPr>
          <a:xfrm>
            <a:off x="8293608" y="5074920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8339328" y="57515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judge score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0049256" y="4873752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B1A33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10049256" y="4873752"/>
            <a:ext cx="159105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3" name="Text 50"/>
          <p:cNvSpPr/>
          <p:nvPr/>
        </p:nvSpPr>
        <p:spPr>
          <a:xfrm>
            <a:off x="10049256" y="5074920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0.95</a:t>
            </a:r>
            <a:endParaRPr lang="en-US" sz="2600" dirty="0"/>
          </a:p>
        </p:txBody>
      </p:sp>
      <p:sp>
        <p:nvSpPr>
          <p:cNvPr id="54" name="Text 51"/>
          <p:cNvSpPr/>
          <p:nvPr/>
        </p:nvSpPr>
        <p:spPr>
          <a:xfrm>
            <a:off x="10094976" y="57515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pass rate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1633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4028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83" y="2393351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037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 less prompt effort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stop hand-tuning brittle, field-specific prompts.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9976" y="1965960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6008" y="224028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079" y="2393351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22037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Hours, not weeks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54296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document type is onboarded with zero manual rules.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9872" y="1965960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5904" y="2240280"/>
            <a:ext cx="566928" cy="566928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975" y="239335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22037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HITL escalations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94192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extraction confidence reduces manual review load.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913632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187952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183" y="4341023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151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Self-healing batch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4400" y="48280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 with backoff — no silent failures.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79976" y="3913632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36008" y="4187952"/>
            <a:ext cx="566928" cy="566928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079" y="4341023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0096" y="4151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Compliance-ready audit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54296" y="48280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written to the SOR with a full trail.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19872" y="3913632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75904" y="4187952"/>
            <a:ext cx="566928" cy="566928"/>
          </a:xfrm>
          <a:prstGeom prst="ellipse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975" y="4341023"/>
            <a:ext cx="260787" cy="26078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79992" y="4151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platform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94192" y="48280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across SLV · ECAR · Invoice · Title Deed.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Config-driven.  Production-ready.  </a:t>
            </a:r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code change after deployment.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iDocs O2A — SLV Current-State Architecture</dc:title>
  <dc:subject>PptxGenJS Presentation</dc:subject>
  <dc:creator>Enterprise AI Architecture</dc:creator>
  <cp:lastModifiedBy>Enterprise AI Architecture</cp:lastModifiedBy>
  <cp:revision>1</cp:revision>
  <dcterms:created xsi:type="dcterms:W3CDTF">2026-05-29T00:24:13Z</dcterms:created>
  <dcterms:modified xsi:type="dcterms:W3CDTF">2026-05-29T00:24:13Z</dcterms:modified>
</cp:coreProperties>
</file>